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70" r:id="rId2"/>
    <p:sldId id="14910" r:id="rId3"/>
    <p:sldId id="14912" r:id="rId4"/>
    <p:sldId id="14913" r:id="rId5"/>
    <p:sldId id="14926" r:id="rId6"/>
    <p:sldId id="14914" r:id="rId7"/>
    <p:sldId id="14915" r:id="rId8"/>
    <p:sldId id="14916" r:id="rId9"/>
    <p:sldId id="14918" r:id="rId10"/>
    <p:sldId id="14920" r:id="rId11"/>
    <p:sldId id="14919" r:id="rId12"/>
    <p:sldId id="14921" r:id="rId13"/>
    <p:sldId id="14922" r:id="rId14"/>
    <p:sldId id="14923" r:id="rId15"/>
    <p:sldId id="14924" r:id="rId16"/>
    <p:sldId id="14925" r:id="rId17"/>
    <p:sldId id="14927" r:id="rId18"/>
    <p:sldId id="14928" r:id="rId19"/>
    <p:sldId id="14929" r:id="rId20"/>
    <p:sldId id="14930" r:id="rId21"/>
    <p:sldId id="14931" r:id="rId22"/>
    <p:sldId id="14932" r:id="rId23"/>
    <p:sldId id="14933" r:id="rId24"/>
    <p:sldId id="14934" r:id="rId25"/>
    <p:sldId id="14935" r:id="rId26"/>
    <p:sldId id="14936" r:id="rId27"/>
    <p:sldId id="14937" r:id="rId28"/>
    <p:sldId id="14938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7ED1"/>
    <a:srgbClr val="147BD1"/>
    <a:srgbClr val="EBEBE9"/>
    <a:srgbClr val="1DCAD3"/>
    <a:srgbClr val="93DA49"/>
    <a:srgbClr val="FFB71B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49" autoAdjust="0"/>
    <p:restoredTop sz="82762" autoAdjust="0"/>
  </p:normalViewPr>
  <p:slideViewPr>
    <p:cSldViewPr snapToGrid="0" showGuides="1">
      <p:cViewPr varScale="1">
        <p:scale>
          <a:sx n="134" d="100"/>
          <a:sy n="134" d="100"/>
        </p:scale>
        <p:origin x="888" y="132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78" d="100"/>
          <a:sy n="78" d="100"/>
        </p:scale>
        <p:origin x="39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9D79CC19-00AF-C47A-B5DC-A4C39937A145}"/>
              </a:ext>
            </a:extLst>
          </p:cNvPr>
          <p:cNvSpPr txBox="1">
            <a:spLocks/>
          </p:cNvSpPr>
          <p:nvPr userDrawn="1"/>
        </p:nvSpPr>
        <p:spPr>
          <a:xfrm>
            <a:off x="645645" y="387656"/>
            <a:ext cx="2643655" cy="438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rgbClr val="D4D4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  I  N  E  P  L  U  S  I  T</a:t>
            </a:r>
            <a:endParaRPr lang="ko-KR" altLang="en-US" sz="1200" dirty="0">
              <a:solidFill>
                <a:srgbClr val="D4D4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84D7C-145C-4AF9-76D0-7B1431CD2603}"/>
              </a:ext>
            </a:extLst>
          </p:cNvPr>
          <p:cNvSpPr txBox="1"/>
          <p:nvPr userDrawn="1"/>
        </p:nvSpPr>
        <p:spPr>
          <a:xfrm>
            <a:off x="5275256" y="6511765"/>
            <a:ext cx="40401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2">
                    <a:lumMod val="90000"/>
                  </a:schemeClr>
                </a:solidFill>
              </a:rPr>
              <a:t>www.npit.co.kr | www.cadence.com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vim-adventures.com/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7"/>
            <a:ext cx="9733566" cy="747774"/>
          </a:xfrm>
        </p:spPr>
        <p:txBody>
          <a:bodyPr/>
          <a:lstStyle/>
          <a:p>
            <a:r>
              <a:rPr lang="en-US" altLang="ko-KR" sz="3600">
                <a:latin typeface="Arial" panose="020B0604020202020204" pitchFamily="34" charset="0"/>
                <a:cs typeface="Arial" panose="020B0604020202020204" pitchFamily="34" charset="0"/>
              </a:rPr>
              <a:t>SoC 100</a:t>
            </a:r>
            <a:endParaRPr lang="ko-KR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b="1" dirty="0"/>
              <a:t>Session2</a:t>
            </a:r>
            <a:r>
              <a:rPr lang="en-US" altLang="ko-KR" dirty="0"/>
              <a:t> : </a:t>
            </a:r>
            <a:r>
              <a:rPr lang="en-US" altLang="ko-KR" b="1" dirty="0"/>
              <a:t>B</a:t>
            </a:r>
            <a:r>
              <a:rPr lang="en-US" altLang="ko-KR" dirty="0"/>
              <a:t>asic </a:t>
            </a:r>
            <a:r>
              <a:rPr lang="en-US" altLang="ko-KR" b="1" dirty="0"/>
              <a:t>L</a:t>
            </a:r>
            <a:r>
              <a:rPr lang="en-US" altLang="ko-KR" dirty="0"/>
              <a:t>inux </a:t>
            </a:r>
            <a:r>
              <a:rPr lang="en-US" altLang="ko-KR" b="1" dirty="0"/>
              <a:t>C</a:t>
            </a:r>
            <a:r>
              <a:rPr lang="en-US" altLang="ko-KR" dirty="0"/>
              <a:t>ommand(</a:t>
            </a:r>
            <a:r>
              <a:rPr lang="en-US" altLang="ko-KR"/>
              <a:t>Fast Track)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48BAA-9ADC-45C7-B6D0-CBF70C034E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BD4A0B-A2EA-4823-857A-3B47982FEFD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9396F-2DC7-9F2F-8212-5AC8FDA579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4639" y="4935172"/>
            <a:ext cx="11195050" cy="71278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1. Basic Linux Operation</a:t>
            </a:r>
          </a:p>
        </p:txBody>
      </p:sp>
    </p:spTree>
    <p:extLst>
      <p:ext uri="{BB962C8B-B14F-4D97-AF65-F5344CB8AC3E}">
        <p14:creationId xmlns:p14="http://schemas.microsoft.com/office/powerpoint/2010/main" val="365783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80111-E225-D135-50DB-C0DA03B53A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Directory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86C0C60B-DA01-3D0E-EA82-44161DE46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89B25E-172F-C464-A892-E635E84253D3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cd  {directory}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pwd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92793F-F6B9-2CFE-094E-F230C7F0F971}"/>
              </a:ext>
            </a:extLst>
          </p:cNvPr>
          <p:cNvSpPr txBox="1"/>
          <p:nvPr/>
        </p:nvSpPr>
        <p:spPr>
          <a:xfrm>
            <a:off x="1430867" y="2709333"/>
            <a:ext cx="41994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Use Absolute PATH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Use Relative PATH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Use user’s home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C71D17-BFD5-E012-6486-924384AD9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0" y="2802408"/>
            <a:ext cx="4106126" cy="229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05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Manual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man {command}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A8F2F9-8E62-B34A-4CAA-099C62C2E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133" y="2726266"/>
            <a:ext cx="2969269" cy="34289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973C6A-4A4C-8C6E-7033-55909530D353}"/>
              </a:ext>
            </a:extLst>
          </p:cNvPr>
          <p:cNvSpPr txBox="1"/>
          <p:nvPr/>
        </p:nvSpPr>
        <p:spPr>
          <a:xfrm>
            <a:off x="1168401" y="2848302"/>
            <a:ext cx="41994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Search Keyword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Moving Back &amp; Forth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Quit Manual</a:t>
            </a:r>
          </a:p>
        </p:txBody>
      </p:sp>
    </p:spTree>
    <p:extLst>
      <p:ext uri="{BB962C8B-B14F-4D97-AF65-F5344CB8AC3E}">
        <p14:creationId xmlns:p14="http://schemas.microsoft.com/office/powerpoint/2010/main" val="4251706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Clear the screen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clear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6284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Listing Directory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ls –option {directory}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973C6A-4A4C-8C6E-7033-55909530D353}"/>
              </a:ext>
            </a:extLst>
          </p:cNvPr>
          <p:cNvSpPr txBox="1"/>
          <p:nvPr/>
        </p:nvSpPr>
        <p:spPr>
          <a:xfrm>
            <a:off x="1168401" y="2848302"/>
            <a:ext cx="41994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Listing Directory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Read Output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Options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Hidden File / Directory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Verbose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1EC418-B707-40C0-A11D-4C698626D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476" y="2724258"/>
            <a:ext cx="4316591" cy="287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16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Init File[s] / </a:t>
            </a:r>
            <a:r>
              <a:rPr lang="en-US" dirty="0" err="1"/>
              <a:t>Directorie</a:t>
            </a:r>
            <a:r>
              <a:rPr lang="en-US" dirty="0"/>
              <a:t>[s] 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touch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file_name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9CFFB88-00BB-4DAF-469F-604953524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1" y="3429000"/>
            <a:ext cx="9659687" cy="12904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205C29-B295-8A87-CA26-1562E223DCC8}"/>
              </a:ext>
            </a:extLst>
          </p:cNvPr>
          <p:cNvSpPr txBox="1"/>
          <p:nvPr/>
        </p:nvSpPr>
        <p:spPr>
          <a:xfrm>
            <a:off x="1524000" y="36830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mkdir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-option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directory_name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C7E257-6F78-D607-73B2-9C39D33D5E94}"/>
              </a:ext>
            </a:extLst>
          </p:cNvPr>
          <p:cNvSpPr txBox="1"/>
          <p:nvPr/>
        </p:nvSpPr>
        <p:spPr>
          <a:xfrm>
            <a:off x="1236134" y="4719436"/>
            <a:ext cx="4199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Nested directory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1F4429-8CCE-2E10-FF92-D9052DF49CC8}"/>
              </a:ext>
            </a:extLst>
          </p:cNvPr>
          <p:cNvSpPr txBox="1"/>
          <p:nvPr/>
        </p:nvSpPr>
        <p:spPr>
          <a:xfrm>
            <a:off x="1176868" y="2523206"/>
            <a:ext cx="4199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Make multiple files</a:t>
            </a:r>
          </a:p>
        </p:txBody>
      </p:sp>
    </p:spTree>
    <p:extLst>
      <p:ext uri="{BB962C8B-B14F-4D97-AF65-F5344CB8AC3E}">
        <p14:creationId xmlns:p14="http://schemas.microsoft.com/office/powerpoint/2010/main" val="2383106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76DA-C857-689C-8D85-B405077379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VI(M)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348D37C6-E755-5959-2FB0-D300DD851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083552-B965-5567-EEA3-2B81B74B30A2}"/>
              </a:ext>
            </a:extLst>
          </p:cNvPr>
          <p:cNvSpPr txBox="1"/>
          <p:nvPr/>
        </p:nvSpPr>
        <p:spPr>
          <a:xfrm>
            <a:off x="1523999" y="1574800"/>
            <a:ext cx="829586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Unix/Linux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자체에 내장된 문서 편집기 프로그램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강력한 문서 편집과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Customization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을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통한 사용확장성을 보여준다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5ABF964-5991-5EB1-9C16-A5D9E87A9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985" y="2494825"/>
            <a:ext cx="6533333" cy="3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162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F1E680-65BE-7E7D-4521-953C7655C44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VI(M): Operation Mode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40F086-B28D-E4ED-3E79-6599BCCBF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660" y="1687274"/>
            <a:ext cx="6125861" cy="408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013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76DA-C857-689C-8D85-B405077379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VI(M): insert</a:t>
            </a:r>
            <a:r>
              <a:rPr lang="ko-KR" altLang="en-US" dirty="0"/>
              <a:t> </a:t>
            </a:r>
            <a:r>
              <a:rPr lang="en-US" altLang="ko-KR" dirty="0"/>
              <a:t>mode</a:t>
            </a:r>
            <a:endParaRPr 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383352E-CC49-072E-4DD0-E19B8743C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99" y="1102697"/>
            <a:ext cx="9659687" cy="12904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EC208D-E537-08C6-8267-5EF14004C3F5}"/>
              </a:ext>
            </a:extLst>
          </p:cNvPr>
          <p:cNvSpPr txBox="1"/>
          <p:nvPr/>
        </p:nvSpPr>
        <p:spPr>
          <a:xfrm>
            <a:off x="1948069" y="1424748"/>
            <a:ext cx="833561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입력모드는 텍스트를 입력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편집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하는 모드이다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4069CC-05A0-55AC-E884-B2D1E69786BE}"/>
              </a:ext>
            </a:extLst>
          </p:cNvPr>
          <p:cNvSpPr txBox="1"/>
          <p:nvPr/>
        </p:nvSpPr>
        <p:spPr>
          <a:xfrm>
            <a:off x="1430867" y="2709333"/>
            <a:ext cx="41994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커서위치 다음 칸에 입력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커서의 위치에 입력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 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커서의 다음 행에 입력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 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커서 위치의 한글자를 삭제 후 입력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4671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76DA-C857-689C-8D85-B405077379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VI(M): visual</a:t>
            </a:r>
            <a:r>
              <a:rPr lang="ko-KR" altLang="en-US" dirty="0"/>
              <a:t> </a:t>
            </a:r>
            <a:r>
              <a:rPr lang="en-US" altLang="ko-KR" dirty="0"/>
              <a:t>mode</a:t>
            </a:r>
            <a:endParaRPr 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383352E-CC49-072E-4DD0-E19B8743C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99" y="1102697"/>
            <a:ext cx="9659687" cy="12904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EC208D-E537-08C6-8267-5EF14004C3F5}"/>
              </a:ext>
            </a:extLst>
          </p:cNvPr>
          <p:cNvSpPr txBox="1"/>
          <p:nvPr/>
        </p:nvSpPr>
        <p:spPr>
          <a:xfrm>
            <a:off x="1948069" y="1424748"/>
            <a:ext cx="833561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비쥬얼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모드는 블록 단위를 선택하여 작업하는 모드이다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4069CC-05A0-55AC-E884-B2D1E69786BE}"/>
              </a:ext>
            </a:extLst>
          </p:cNvPr>
          <p:cNvSpPr txBox="1"/>
          <p:nvPr/>
        </p:nvSpPr>
        <p:spPr>
          <a:xfrm>
            <a:off x="1430866" y="2709333"/>
            <a:ext cx="906485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 : Normal Visual Mode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 : Visual Line Mode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선택된 내용 삭제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-&gt; Normal Mode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선택된 내용 삭제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-&gt; Insert Mode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y: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선택된 내용의 복사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-&gt; Normal Mode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선택된 모든 라인을 순서대로 결합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-&gt; Normal Mode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~ 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선택된 내용의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case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를 변경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-&gt; Normal Mode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 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선택된 내용을 소문자로 변경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-&gt; Normal Mode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 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선택된 내용을 대문자로 변경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-&gt; Normal Mode</a:t>
            </a:r>
          </a:p>
        </p:txBody>
      </p:sp>
    </p:spTree>
    <p:extLst>
      <p:ext uri="{BB962C8B-B14F-4D97-AF65-F5344CB8AC3E}">
        <p14:creationId xmlns:p14="http://schemas.microsoft.com/office/powerpoint/2010/main" val="977905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76DA-C857-689C-8D85-B4050773798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VI(M): ex</a:t>
            </a:r>
            <a:r>
              <a:rPr lang="ko-KR" altLang="en-US" dirty="0"/>
              <a:t> </a:t>
            </a:r>
            <a:r>
              <a:rPr lang="en-US" altLang="ko-KR" dirty="0"/>
              <a:t>mode</a:t>
            </a:r>
            <a:endParaRPr 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383352E-CC49-072E-4DD0-E19B8743C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99" y="1102697"/>
            <a:ext cx="9659687" cy="12904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EC208D-E537-08C6-8267-5EF14004C3F5}"/>
              </a:ext>
            </a:extLst>
          </p:cNvPr>
          <p:cNvSpPr txBox="1"/>
          <p:nvPr/>
        </p:nvSpPr>
        <p:spPr>
          <a:xfrm>
            <a:off x="1948069" y="1424748"/>
            <a:ext cx="833561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모드는 작업을 명령하는 모드이다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4069CC-05A0-55AC-E884-B2D1E69786BE}"/>
              </a:ext>
            </a:extLst>
          </p:cNvPr>
          <p:cNvSpPr txBox="1"/>
          <p:nvPr/>
        </p:nvSpPr>
        <p:spPr>
          <a:xfrm>
            <a:off x="1430866" y="2709333"/>
            <a:ext cx="90648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:w -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:w file.txt – file.txt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로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:w &gt;&gt; file.txt – file.txt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에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append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하여 저장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:q – VIM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종료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:q!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–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강제 종료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wq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! –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저장하고 강제 종료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:e file.txt – file.txt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를 불러옴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7014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867AB2-0AEF-27DC-B579-954DCAAD146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VI(M)</a:t>
            </a:r>
            <a:r>
              <a:rPr lang="ko-KR" altLang="en-US" dirty="0"/>
              <a:t> 단축키 </a:t>
            </a:r>
            <a:endParaRPr lang="en-US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3A7778CD-6320-4502-E439-C49B69839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691" y="1004936"/>
            <a:ext cx="8844744" cy="47875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CA5D43-7353-9F37-22F1-BD76F21E81D2}"/>
              </a:ext>
            </a:extLst>
          </p:cNvPr>
          <p:cNvSpPr txBox="1"/>
          <p:nvPr/>
        </p:nvSpPr>
        <p:spPr>
          <a:xfrm>
            <a:off x="1425691" y="5792458"/>
            <a:ext cx="4020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3"/>
              </a:rPr>
              <a:t>VIM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  <a:hlinkClick r:id="rId3"/>
              </a:rPr>
              <a:t>연습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5316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Copy and Paste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cp –option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}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rm –option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}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973C6A-4A4C-8C6E-7033-55909530D353}"/>
              </a:ext>
            </a:extLst>
          </p:cNvPr>
          <p:cNvSpPr txBox="1"/>
          <p:nvPr/>
        </p:nvSpPr>
        <p:spPr>
          <a:xfrm>
            <a:off x="1168401" y="2848302"/>
            <a:ext cx="41994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Directory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Recursive Operation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5065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Duplicity of “mv” command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mv 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] 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mv [src1] [src2]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973C6A-4A4C-8C6E-7033-55909530D353}"/>
              </a:ext>
            </a:extLst>
          </p:cNvPr>
          <p:cNvSpPr txBox="1"/>
          <p:nvPr/>
        </p:nvSpPr>
        <p:spPr>
          <a:xfrm>
            <a:off x="1168401" y="2848302"/>
            <a:ext cx="4199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Moving directory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Change directory’s name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1EC418-B707-40C0-A11D-4C698626D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476" y="2724258"/>
            <a:ext cx="4316591" cy="287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860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Printing the contents in the file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cat {file}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more / less {file}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78A37CE-091C-8908-8A85-3648C39833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1" y="4072964"/>
            <a:ext cx="9659687" cy="12904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6E2526-0F38-ACE6-E5DA-C8C21E157E7F}"/>
              </a:ext>
            </a:extLst>
          </p:cNvPr>
          <p:cNvSpPr txBox="1"/>
          <p:nvPr/>
        </p:nvSpPr>
        <p:spPr>
          <a:xfrm>
            <a:off x="1524000" y="4395016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head {file}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tail {file}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D71719-16F2-EE4A-2C4F-E22ABBB6192B}"/>
              </a:ext>
            </a:extLst>
          </p:cNvPr>
          <p:cNvSpPr txBox="1"/>
          <p:nvPr/>
        </p:nvSpPr>
        <p:spPr>
          <a:xfrm>
            <a:off x="1168401" y="2848302"/>
            <a:ext cx="4199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Quitting printed page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Move back and forth through pages</a:t>
            </a:r>
          </a:p>
        </p:txBody>
      </p:sp>
    </p:spTree>
    <p:extLst>
      <p:ext uri="{BB962C8B-B14F-4D97-AF65-F5344CB8AC3E}">
        <p14:creationId xmlns:p14="http://schemas.microsoft.com/office/powerpoint/2010/main" val="2921062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48BAA-9ADC-45C7-B6D0-CBF70C034ED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BD4A0B-A2EA-4823-857A-3B47982FEFD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9396F-2DC7-9F2F-8212-5AC8FDA579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4639" y="4935172"/>
            <a:ext cx="11195050" cy="71278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2. Intermediate Linux Operation</a:t>
            </a:r>
          </a:p>
        </p:txBody>
      </p:sp>
    </p:spTree>
    <p:extLst>
      <p:ext uri="{BB962C8B-B14F-4D97-AF65-F5344CB8AC3E}">
        <p14:creationId xmlns:p14="http://schemas.microsoft.com/office/powerpoint/2010/main" val="1077524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Shell(1)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Shell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은 리눅스 커널과 사용자를 연결해 주는 인터페이스 명령어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프로그래밍 언어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이다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78A37CE-091C-8908-8A85-3648C39833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1" y="2802408"/>
            <a:ext cx="9659687" cy="12904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6E2526-0F38-ACE6-E5DA-C8C21E157E7F}"/>
              </a:ext>
            </a:extLst>
          </p:cNvPr>
          <p:cNvSpPr txBox="1"/>
          <p:nvPr/>
        </p:nvSpPr>
        <p:spPr>
          <a:xfrm>
            <a:off x="1524000" y="312446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echo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$0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현재 사용 중인 사용자의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Shell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을 출력한다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D71719-16F2-EE4A-2C4F-E22ABBB6192B}"/>
              </a:ext>
            </a:extLst>
          </p:cNvPr>
          <p:cNvSpPr txBox="1"/>
          <p:nvPr/>
        </p:nvSpPr>
        <p:spPr>
          <a:xfrm>
            <a:off x="1524000" y="4208387"/>
            <a:ext cx="4199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Bash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Shell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C-Shell for EDA</a:t>
            </a:r>
          </a:p>
        </p:txBody>
      </p:sp>
    </p:spTree>
    <p:extLst>
      <p:ext uri="{BB962C8B-B14F-4D97-AF65-F5344CB8AC3E}">
        <p14:creationId xmlns:p14="http://schemas.microsoft.com/office/powerpoint/2010/main" val="326067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Shell(2)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source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{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shell_file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Shell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파일의 내용을 적용한다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E2526-0F38-ACE6-E5DA-C8C21E157E7F}"/>
              </a:ext>
            </a:extLst>
          </p:cNvPr>
          <p:cNvSpPr txBox="1"/>
          <p:nvPr/>
        </p:nvSpPr>
        <p:spPr>
          <a:xfrm>
            <a:off x="1524000" y="3124460"/>
            <a:ext cx="6146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D71719-16F2-EE4A-2C4F-E22ABBB6192B}"/>
              </a:ext>
            </a:extLst>
          </p:cNvPr>
          <p:cNvSpPr txBox="1"/>
          <p:nvPr/>
        </p:nvSpPr>
        <p:spPr>
          <a:xfrm>
            <a:off x="1524000" y="2585082"/>
            <a:ext cx="4199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Shell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적용의 우선순위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0581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Alias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alias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shorten_customized_cmd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} = “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original_long_cmd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E2526-0F38-ACE6-E5DA-C8C21E157E7F}"/>
              </a:ext>
            </a:extLst>
          </p:cNvPr>
          <p:cNvSpPr txBox="1"/>
          <p:nvPr/>
        </p:nvSpPr>
        <p:spPr>
          <a:xfrm>
            <a:off x="1524000" y="3124460"/>
            <a:ext cx="6146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D71719-16F2-EE4A-2C4F-E22ABBB6192B}"/>
              </a:ext>
            </a:extLst>
          </p:cNvPr>
          <p:cNvSpPr txBox="1"/>
          <p:nvPr/>
        </p:nvSpPr>
        <p:spPr>
          <a:xfrm>
            <a:off x="1524000" y="2585082"/>
            <a:ext cx="4199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단축 명령어를 설정하는 방법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즐겨찾기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6359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Link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Hard Link: ln 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] 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Soft Link: ln –s 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src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] [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E2526-0F38-ACE6-E5DA-C8C21E157E7F}"/>
              </a:ext>
            </a:extLst>
          </p:cNvPr>
          <p:cNvSpPr txBox="1"/>
          <p:nvPr/>
        </p:nvSpPr>
        <p:spPr>
          <a:xfrm>
            <a:off x="1524000" y="3124460"/>
            <a:ext cx="6146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D71719-16F2-EE4A-2C4F-E22ABBB6192B}"/>
              </a:ext>
            </a:extLst>
          </p:cNvPr>
          <p:cNvSpPr txBox="1"/>
          <p:nvPr/>
        </p:nvSpPr>
        <p:spPr>
          <a:xfrm>
            <a:off x="1524000" y="2585082"/>
            <a:ext cx="41994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복사와 링크의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다른점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원본 파일 변경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삭제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Hard Link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보다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Soft(Symbolic) Link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가 선호되는 이유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0126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grep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grep –option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serach_pattern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} {file or path}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E2526-0F38-ACE6-E5DA-C8C21E157E7F}"/>
              </a:ext>
            </a:extLst>
          </p:cNvPr>
          <p:cNvSpPr txBox="1"/>
          <p:nvPr/>
        </p:nvSpPr>
        <p:spPr>
          <a:xfrm>
            <a:off x="1524000" y="3124460"/>
            <a:ext cx="6146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5061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Compress using tar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9659687" cy="12904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524000" y="1574800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tar –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xzvf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compressed_file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}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tar –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czvf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{compressed file}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src_directory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E2526-0F38-ACE6-E5DA-C8C21E157E7F}"/>
              </a:ext>
            </a:extLst>
          </p:cNvPr>
          <p:cNvSpPr txBox="1"/>
          <p:nvPr/>
        </p:nvSpPr>
        <p:spPr>
          <a:xfrm>
            <a:off x="1524000" y="2802408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Process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Compressing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Extension name of compressed file</a:t>
            </a:r>
          </a:p>
        </p:txBody>
      </p:sp>
    </p:spTree>
    <p:extLst>
      <p:ext uri="{BB962C8B-B14F-4D97-AF65-F5344CB8AC3E}">
        <p14:creationId xmlns:p14="http://schemas.microsoft.com/office/powerpoint/2010/main" val="31430452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Logical Concatenation of commands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11015015" cy="14714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630016" y="1574800"/>
            <a:ext cx="714292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command1 ; command2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command1 &amp;&amp; command2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command1 || command2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E2526-0F38-ACE6-E5DA-C8C21E157E7F}"/>
              </a:ext>
            </a:extLst>
          </p:cNvPr>
          <p:cNvSpPr txBox="1"/>
          <p:nvPr/>
        </p:nvSpPr>
        <p:spPr>
          <a:xfrm>
            <a:off x="1524000" y="3124460"/>
            <a:ext cx="6146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9982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Command Pipelining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11015015" cy="14714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630016" y="1574800"/>
            <a:ext cx="714292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command1 | command2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E2526-0F38-ACE6-E5DA-C8C21E157E7F}"/>
              </a:ext>
            </a:extLst>
          </p:cNvPr>
          <p:cNvSpPr txBox="1"/>
          <p:nvPr/>
        </p:nvSpPr>
        <p:spPr>
          <a:xfrm>
            <a:off x="1484243" y="2983466"/>
            <a:ext cx="6146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Pipeline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개념의 공학적 응용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C8FE934-7C0F-827C-6D29-A2D4709CF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5340" y="3015974"/>
            <a:ext cx="5592417" cy="279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439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Redirection IO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11015015" cy="14714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630016" y="1574800"/>
            <a:ext cx="714292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command &gt; file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command &gt;&gt;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E2526-0F38-ACE6-E5DA-C8C21E157E7F}"/>
              </a:ext>
            </a:extLst>
          </p:cNvPr>
          <p:cNvSpPr txBox="1"/>
          <p:nvPr/>
        </p:nvSpPr>
        <p:spPr>
          <a:xfrm>
            <a:off x="1484243" y="2983466"/>
            <a:ext cx="6146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Standard Input / Output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06748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Control Process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11015015" cy="14714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630016" y="1574800"/>
            <a:ext cx="714292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: prints user’s whole process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kill : terminate user’s PID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E2526-0F38-ACE6-E5DA-C8C21E157E7F}"/>
              </a:ext>
            </a:extLst>
          </p:cNvPr>
          <p:cNvSpPr txBox="1"/>
          <p:nvPr/>
        </p:nvSpPr>
        <p:spPr>
          <a:xfrm>
            <a:off x="1484243" y="2983466"/>
            <a:ext cx="61468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Process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란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PID(Process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ID)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40704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06DC-79E7-D29B-5D99-82952211E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1063" y="365125"/>
            <a:ext cx="11310937" cy="639763"/>
          </a:xfrm>
        </p:spPr>
        <p:txBody>
          <a:bodyPr>
            <a:normAutofit fontScale="90000"/>
          </a:bodyPr>
          <a:lstStyle/>
          <a:p>
            <a:r>
              <a:rPr lang="en-US" dirty="0"/>
              <a:t>Permission</a:t>
            </a:r>
          </a:p>
        </p:txBody>
      </p:sp>
      <p:pic>
        <p:nvPicPr>
          <p:cNvPr id="3" name="내용 개체 틀 4">
            <a:extLst>
              <a:ext uri="{FF2B5EF4-FFF2-40B4-BE49-F238E27FC236}">
                <a16:creationId xmlns:a16="http://schemas.microsoft.com/office/drawing/2014/main" id="{51C56DD4-213B-BA1A-0BAC-F8062ACF6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2" y="1258454"/>
            <a:ext cx="11015015" cy="14714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BCB530-590F-F316-860D-C406C86D6F65}"/>
              </a:ext>
            </a:extLst>
          </p:cNvPr>
          <p:cNvSpPr txBox="1"/>
          <p:nvPr/>
        </p:nvSpPr>
        <p:spPr>
          <a:xfrm>
            <a:off x="1630016" y="1574800"/>
            <a:ext cx="714292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rwx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read, write, execution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ugo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user, group, other[s]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704D933-C3B5-65FC-2B7B-A62E80EAAA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1" y="3429000"/>
            <a:ext cx="11015015" cy="14714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B6B421-8B60-70C7-E13A-8221C39D557A}"/>
              </a:ext>
            </a:extLst>
          </p:cNvPr>
          <p:cNvSpPr txBox="1"/>
          <p:nvPr/>
        </p:nvSpPr>
        <p:spPr>
          <a:xfrm>
            <a:off x="1630016" y="3741531"/>
            <a:ext cx="714292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chmod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–option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permission_masking_bits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{file or directory}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E6C47D-C98B-DBFF-ECC5-4156EA03B2B8}"/>
              </a:ext>
            </a:extLst>
          </p:cNvPr>
          <p:cNvSpPr txBox="1"/>
          <p:nvPr/>
        </p:nvSpPr>
        <p:spPr>
          <a:xfrm>
            <a:off x="1630016" y="4960034"/>
            <a:ext cx="6146800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Octal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사용법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+/-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rwx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사용법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Recursive Operation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72548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13646</TotalTime>
  <Words>675</Words>
  <Application>Microsoft Office PowerPoint</Application>
  <PresentationFormat>와이드스크린</PresentationFormat>
  <Paragraphs>137</Paragraphs>
  <Slides>28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2" baseType="lpstr">
      <vt:lpstr>나눔스퀘어 네오 Regular</vt:lpstr>
      <vt:lpstr>맑은 고딕</vt:lpstr>
      <vt:lpstr>Arial</vt:lpstr>
      <vt:lpstr>Office 테마</vt:lpstr>
      <vt:lpstr>SoC 100</vt:lpstr>
      <vt:lpstr>1. Basic Linux Operation</vt:lpstr>
      <vt:lpstr>Directory</vt:lpstr>
      <vt:lpstr>Manual</vt:lpstr>
      <vt:lpstr>Clear the screen</vt:lpstr>
      <vt:lpstr>Listing Directory</vt:lpstr>
      <vt:lpstr>Init File[s] / Directorie[s] </vt:lpstr>
      <vt:lpstr>VI(M)</vt:lpstr>
      <vt:lpstr>VI(M): Operation Mode</vt:lpstr>
      <vt:lpstr>VI(M): insert mode</vt:lpstr>
      <vt:lpstr>VI(M): visual mode</vt:lpstr>
      <vt:lpstr>VI(M): ex mode</vt:lpstr>
      <vt:lpstr>VI(M) 단축키 </vt:lpstr>
      <vt:lpstr>Copy and Paste</vt:lpstr>
      <vt:lpstr>Duplicity of “mv” command</vt:lpstr>
      <vt:lpstr>Printing the contents in the file</vt:lpstr>
      <vt:lpstr>2. Intermediate Linux Operation</vt:lpstr>
      <vt:lpstr>Shell(1)</vt:lpstr>
      <vt:lpstr>Shell(2)</vt:lpstr>
      <vt:lpstr>Alias</vt:lpstr>
      <vt:lpstr>Link</vt:lpstr>
      <vt:lpstr>grep</vt:lpstr>
      <vt:lpstr>Compress using tar</vt:lpstr>
      <vt:lpstr>Logical Concatenation of commands</vt:lpstr>
      <vt:lpstr>Command Pipelining</vt:lpstr>
      <vt:lpstr>Redirection IO</vt:lpstr>
      <vt:lpstr>Control Process</vt:lpstr>
      <vt:lpstr>Permission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Control with PS Part</dc:title>
  <dc:creator>예빈 문</dc:creator>
  <cp:lastModifiedBy>Seungan Woo</cp:lastModifiedBy>
  <cp:revision>699</cp:revision>
  <dcterms:created xsi:type="dcterms:W3CDTF">2024-09-20T05:42:48Z</dcterms:created>
  <dcterms:modified xsi:type="dcterms:W3CDTF">2026-09-06T15:37:23Z</dcterms:modified>
</cp:coreProperties>
</file>